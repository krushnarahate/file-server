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Software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468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0A8E8"/>
                </a:solidFill>
              </a:rPr>
              <a:t>Process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</a:rPr>
              <a:t>Waterfall  ·  Iterative Enhancement  ·  RAD  ·  Evolutionary  ·  Spiral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</a:rPr>
              <a:t>Software Engineering — SDLC Model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34506A-88FB-E767-D4D0-2A8A454348A7}"/>
              </a:ext>
            </a:extLst>
          </p:cNvPr>
          <p:cNvSpPr txBox="1"/>
          <p:nvPr/>
        </p:nvSpPr>
        <p:spPr>
          <a:xfrm>
            <a:off x="4031226" y="4316361"/>
            <a:ext cx="45193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Presented by :</a:t>
            </a:r>
          </a:p>
          <a:p>
            <a:r>
              <a:rPr lang="en-IN" dirty="0">
                <a:solidFill>
                  <a:schemeClr val="bg1"/>
                </a:solidFill>
              </a:rPr>
              <a:t>		       Sarvesh Kothe        BT23F06F031</a:t>
            </a:r>
          </a:p>
          <a:p>
            <a:r>
              <a:rPr lang="en-IN" dirty="0">
                <a:solidFill>
                  <a:schemeClr val="bg1"/>
                </a:solidFill>
              </a:rPr>
              <a:t>		       Krushna </a:t>
            </a:r>
            <a:r>
              <a:rPr lang="en-IN">
                <a:solidFill>
                  <a:schemeClr val="bg1"/>
                </a:solidFill>
              </a:rPr>
              <a:t>Rahate      </a:t>
            </a:r>
            <a:r>
              <a:rPr lang="en-IN" dirty="0">
                <a:solidFill>
                  <a:schemeClr val="bg1"/>
                </a:solidFill>
              </a:rPr>
              <a:t>BT23F06F051</a:t>
            </a:r>
          </a:p>
          <a:p>
            <a:r>
              <a:rPr lang="en-IN" dirty="0">
                <a:solidFill>
                  <a:schemeClr val="bg1"/>
                </a:solidFill>
              </a:rPr>
              <a:t>		       Yash Vishwakarma BT23F06F067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01</a:t>
            </a:r>
          </a:p>
        </p:txBody>
      </p:sp>
      <p:pic>
        <p:nvPicPr>
          <p:cNvPr id="6" name="Picture 5" descr="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54864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217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0A8E8"/>
                </a:solidFill>
              </a:rPr>
              <a:t>Linear &amp; Sequential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Waterfall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51560"/>
            <a:ext cx="3657600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126480" y="1325880"/>
            <a:ext cx="109728" cy="109728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Each phase must be completed before the next begins — no going back.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0" y="2130552"/>
            <a:ext cx="109728" cy="109728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039112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Phases: Requirements → Design → Implementation → Testing → Maintenance.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0" y="2935224"/>
            <a:ext cx="109728" cy="109728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843784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Best for projects with well-defined, stable requirements.</a:t>
            </a:r>
          </a:p>
        </p:txBody>
      </p:sp>
      <p:sp>
        <p:nvSpPr>
          <p:cNvPr id="16" name="Oval 15"/>
          <p:cNvSpPr/>
          <p:nvPr/>
        </p:nvSpPr>
        <p:spPr>
          <a:xfrm>
            <a:off x="6126480" y="3739896"/>
            <a:ext cx="109728" cy="109728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648456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Simple and easy to manage; poor flexibility for changes mid-project.</a:t>
            </a:r>
          </a:p>
        </p:txBody>
      </p:sp>
      <p:sp>
        <p:nvSpPr>
          <p:cNvPr id="18" name="Oval 17"/>
          <p:cNvSpPr/>
          <p:nvPr/>
        </p:nvSpPr>
        <p:spPr>
          <a:xfrm>
            <a:off x="6126480" y="4544568"/>
            <a:ext cx="109728" cy="109728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453128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Named after its cascade-like diagram representation.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6492240"/>
            <a:ext cx="6245352" cy="3657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65379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Software Engineering — SDLC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02</a:t>
            </a:r>
          </a:p>
        </p:txBody>
      </p:sp>
      <p:pic>
        <p:nvPicPr>
          <p:cNvPr id="6" name="Picture 5" descr="ite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54864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217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0B981"/>
                </a:solidFill>
              </a:rPr>
              <a:t>Build, Refine, Repeat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Iterative Enhancement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51560"/>
            <a:ext cx="3657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126480" y="132588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Starts with a simple initial implementation, then repeatedly improved.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0" y="213055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039112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Each iteration goes through: Requirements → Design → Implementation → Testing.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0" y="293522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843784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Feedback from each iteration feeds back into the next cycle.</a:t>
            </a:r>
          </a:p>
        </p:txBody>
      </p:sp>
      <p:sp>
        <p:nvSpPr>
          <p:cNvPr id="16" name="Oval 15"/>
          <p:cNvSpPr/>
          <p:nvPr/>
        </p:nvSpPr>
        <p:spPr>
          <a:xfrm>
            <a:off x="6126480" y="373989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648456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Handles changing requirements better than the Waterfall model.</a:t>
            </a:r>
          </a:p>
        </p:txBody>
      </p:sp>
      <p:sp>
        <p:nvSpPr>
          <p:cNvPr id="18" name="Oval 17"/>
          <p:cNvSpPr/>
          <p:nvPr/>
        </p:nvSpPr>
        <p:spPr>
          <a:xfrm>
            <a:off x="6126480" y="454456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453128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Reduces risk by discovering issues early through repeated cycles.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6492240"/>
            <a:ext cx="624535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65379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Software Engineering — SDLC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03</a:t>
            </a:r>
          </a:p>
        </p:txBody>
      </p:sp>
      <p:pic>
        <p:nvPicPr>
          <p:cNvPr id="6" name="Picture 5" descr="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54864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217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59E0B"/>
                </a:solidFill>
              </a:rPr>
              <a:t>Rapid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RAD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51560"/>
            <a:ext cx="3657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126480" y="132588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Developed by IBM in 1980; user participation is essential throughout.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0" y="213055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039112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Focuses on rapid prototyping over lengthy planning and design.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0" y="293522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843784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Divides project into small modules developed in parallel by teams.</a:t>
            </a:r>
          </a:p>
        </p:txBody>
      </p:sp>
      <p:sp>
        <p:nvSpPr>
          <p:cNvPr id="16" name="Oval 15"/>
          <p:cNvSpPr/>
          <p:nvPr/>
        </p:nvSpPr>
        <p:spPr>
          <a:xfrm>
            <a:off x="6126480" y="373989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648456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Extremely fast delivery cycle — typically 60–90 days per module.</a:t>
            </a:r>
          </a:p>
        </p:txBody>
      </p:sp>
      <p:sp>
        <p:nvSpPr>
          <p:cNvPr id="18" name="Oval 17"/>
          <p:cNvSpPr/>
          <p:nvPr/>
        </p:nvSpPr>
        <p:spPr>
          <a:xfrm>
            <a:off x="6126480" y="454456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453128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Requires skilled developers and active client involvement to succeed.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6492240"/>
            <a:ext cx="62453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65379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Software Engineering — SDLC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04</a:t>
            </a:r>
          </a:p>
        </p:txBody>
      </p:sp>
      <p:pic>
        <p:nvPicPr>
          <p:cNvPr id="6" name="Picture 5" descr="evolut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54864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217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5CF6"/>
                </a:solidFill>
              </a:rPr>
              <a:t>Grow the System Over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Evolutionary Process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51560"/>
            <a:ext cx="36576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126480" y="13258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Starts with an outline description; system evolves through iterations.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0" y="2130552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039112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Three concurrent activities: Specification, Development, Validation.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0" y="293522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843784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Produces Initial, Intermediate, and Final versions progressively.</a:t>
            </a:r>
          </a:p>
        </p:txBody>
      </p:sp>
      <p:sp>
        <p:nvSpPr>
          <p:cNvPr id="16" name="Oval 15"/>
          <p:cNvSpPr/>
          <p:nvPr/>
        </p:nvSpPr>
        <p:spPr>
          <a:xfrm>
            <a:off x="6126480" y="373989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648456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Ideal when requirements are not fully known at the start.</a:t>
            </a:r>
          </a:p>
        </p:txBody>
      </p:sp>
      <p:sp>
        <p:nvSpPr>
          <p:cNvPr id="18" name="Oval 17"/>
          <p:cNvSpPr/>
          <p:nvPr/>
        </p:nvSpPr>
        <p:spPr>
          <a:xfrm>
            <a:off x="6126480" y="454456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453128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System 'evolves' like a living organism — flexible and adaptive.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6492240"/>
            <a:ext cx="624535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65379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Software Engineering — SDLC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05</a:t>
            </a:r>
          </a:p>
        </p:txBody>
      </p:sp>
      <p:pic>
        <p:nvPicPr>
          <p:cNvPr id="6" name="Picture 5" descr="spi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54864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217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F4444"/>
                </a:solidFill>
              </a:rPr>
              <a:t>Risk-Driven &amp; Iterative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74320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Spiral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51560"/>
            <a:ext cx="36576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126480" y="132588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Combines iterative development with systematic risk analysis at every loop.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0" y="213055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039112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Four quadrants per loop: Plan → Risk Analysis → Develop → Review.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0" y="293522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843784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Each spiral loop produces a more complete version of the software.</a:t>
            </a:r>
          </a:p>
        </p:txBody>
      </p:sp>
      <p:sp>
        <p:nvSpPr>
          <p:cNvPr id="16" name="Oval 15"/>
          <p:cNvSpPr/>
          <p:nvPr/>
        </p:nvSpPr>
        <p:spPr>
          <a:xfrm>
            <a:off x="6126480" y="3739896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648456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Best suited for large, complex, high-risk projects.</a:t>
            </a:r>
          </a:p>
        </p:txBody>
      </p:sp>
      <p:sp>
        <p:nvSpPr>
          <p:cNvPr id="18" name="Oval 17"/>
          <p:cNvSpPr/>
          <p:nvPr/>
        </p:nvSpPr>
        <p:spPr>
          <a:xfrm>
            <a:off x="6126480" y="454456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453128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0F4F8"/>
                </a:solidFill>
              </a:rPr>
              <a:t>Risk identification and mitigation is the core strength of this model.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6492240"/>
            <a:ext cx="624535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65379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Software Engineering — SDLC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Quick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2286000" cy="53035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2286000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E8"/>
                </a:solidFill>
              </a:rPr>
              <a:t>Waterfall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1737360" cy="3657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" y="2011680"/>
            <a:ext cx="2057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8"/>
                </a:solidFill>
              </a:rPr>
              <a:t>Fixed requirements
One-time delivery
Low flexibility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051560"/>
            <a:ext cx="2286000" cy="53035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06040" y="1051560"/>
            <a:ext cx="228600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7480" y="1234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Iterative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874519"/>
            <a:ext cx="17373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15768" y="2011680"/>
            <a:ext cx="2057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8"/>
                </a:solidFill>
              </a:rPr>
              <a:t>Incremental builds
Feedback loops
Better flexibility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051560"/>
            <a:ext cx="2286000" cy="53035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83480" y="1051560"/>
            <a:ext cx="228600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0" y="1234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</a:rPr>
              <a:t>RAD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800" y="1874519"/>
            <a:ext cx="17373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93208" y="2011680"/>
            <a:ext cx="2057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8"/>
                </a:solidFill>
              </a:rPr>
              <a:t>Fast prototyping
User-driven
Parallel development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1051560"/>
            <a:ext cx="2286000" cy="53035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60920" y="1051560"/>
            <a:ext cx="228600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52360" y="1234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5CF6"/>
                </a:solidFill>
              </a:rPr>
              <a:t>Evolutionary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1874519"/>
            <a:ext cx="173736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70648" y="2011680"/>
            <a:ext cx="2057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8"/>
                </a:solidFill>
              </a:rPr>
              <a:t>Grows over time
Concurrent phases
Handles unknowns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38360" y="1051560"/>
            <a:ext cx="2286000" cy="53035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738360" y="1051560"/>
            <a:ext cx="228600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29800" y="1234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F4444"/>
                </a:solidFill>
              </a:rPr>
              <a:t>Spiral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12680" y="1874519"/>
            <a:ext cx="17373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48088" y="2011680"/>
            <a:ext cx="2057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8"/>
                </a:solidFill>
              </a:rPr>
              <a:t>Risk-focused
Repeated loops
Best for large projects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</a:rPr>
              <a:t>Software Engineering — SDLC Model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431</Words>
  <Application>Microsoft Office PowerPoint</Application>
  <PresentationFormat>Custom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Krushna Rahate</cp:lastModifiedBy>
  <cp:revision>2</cp:revision>
  <dcterms:created xsi:type="dcterms:W3CDTF">2013-01-27T09:14:16Z</dcterms:created>
  <dcterms:modified xsi:type="dcterms:W3CDTF">2026-05-06T09:48:04Z</dcterms:modified>
  <cp:category/>
</cp:coreProperties>
</file>